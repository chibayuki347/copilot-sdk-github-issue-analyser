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31352" y="-1371600"/>
            <a:ext cx="5029200" cy="5029200"/>
          </a:xfrm>
          <a:prstGeom prst="ellipse">
            <a:avLst/>
          </a:prstGeom>
          <a:solidFill>
            <a:srgbClr val="702573"/>
          </a:solidFill>
          <a:ln w="12700">
            <a:solidFill>
              <a:srgbClr val="70257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02952" y="1371600"/>
            <a:ext cx="3657600" cy="3657600"/>
          </a:xfrm>
          <a:prstGeom prst="ellipse">
            <a:avLst/>
          </a:prstGeom>
          <a:solidFill>
            <a:srgbClr val="FE5B38"/>
          </a:solidFill>
          <a:ln w="12700">
            <a:solidFill>
              <a:srgbClr val="FE5B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2286000" y="4572000"/>
            <a:ext cx="3657600" cy="3657600"/>
          </a:xfrm>
          <a:prstGeom prst="ellipse">
            <a:avLst/>
          </a:prstGeom>
          <a:solidFill>
            <a:srgbClr val="BF3AC4"/>
          </a:solidFill>
          <a:ln w="12700">
            <a:solidFill>
              <a:srgbClr val="BF3A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743200"/>
            <a:ext cx="73152" cy="1097280"/>
          </a:xfrm>
          <a:prstGeom prst="rect">
            <a:avLst/>
          </a:prstGeom>
          <a:solidFill>
            <a:srgbClr val="8CC7E7"/>
          </a:solidFill>
          <a:ln w="12700">
            <a:solidFill>
              <a:srgbClr val="8CC7E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2743200"/>
            <a:ext cx="108630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8CC7E7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GITHUB COPILOT SDK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3108960"/>
            <a:ext cx="108630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spc="-30" kern="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Building an AI Issue Triage Tool with the GitHub Copilot SDK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777240" y="3931920"/>
            <a:ext cx="10863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From empty file to streaming web app in 60 minutes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548640"/>
            <a:ext cx="164592" cy="164592"/>
          </a:xfrm>
          <a:prstGeom prst="rect">
            <a:avLst/>
          </a:prstGeom>
          <a:solidFill>
            <a:srgbClr val="FA8E3F"/>
          </a:solidFill>
          <a:ln w="12700">
            <a:solidFill>
              <a:srgbClr val="FA8E3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548640"/>
            <a:ext cx="164592" cy="164592"/>
          </a:xfrm>
          <a:prstGeom prst="rect">
            <a:avLst/>
          </a:prstGeom>
          <a:solidFill>
            <a:srgbClr val="80BB03"/>
          </a:solidFill>
          <a:ln w="12700">
            <a:solidFill>
              <a:srgbClr val="80BB0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731520"/>
            <a:ext cx="164592" cy="164592"/>
          </a:xfrm>
          <a:prstGeom prst="rect">
            <a:avLst/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31520" y="731520"/>
            <a:ext cx="164592" cy="164592"/>
          </a:xfrm>
          <a:prstGeom prst="rect">
            <a:avLst/>
          </a:prstGeom>
          <a:solidFill>
            <a:srgbClr val="FFB901"/>
          </a:solidFill>
          <a:ln w="12700">
            <a:solidFill>
              <a:srgbClr val="FFB90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69264" y="530352"/>
            <a:ext cx="1097280" cy="384048"/>
          </a:xfrm>
          <a:prstGeom prst="rect">
            <a:avLst/>
          </a:prstGeom>
          <a:solidFill>
            <a:srgbClr val="FFF8F3"/>
          </a:solidFill>
          <a:ln w="12700">
            <a:solidFill>
              <a:srgbClr val="FFF8F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5120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Microsoft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26364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By Renee Noble · MIT License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64592" cy="164592"/>
          </a:xfrm>
          <a:prstGeom prst="rect">
            <a:avLst/>
          </a:prstGeom>
          <a:solidFill>
            <a:srgbClr val="FA8E3F"/>
          </a:solidFill>
          <a:ln w="12700">
            <a:solidFill>
              <a:srgbClr val="FA8E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548640"/>
            <a:ext cx="164592" cy="164592"/>
          </a:xfrm>
          <a:prstGeom prst="rect">
            <a:avLst/>
          </a:prstGeom>
          <a:solidFill>
            <a:srgbClr val="80BB03"/>
          </a:solidFill>
          <a:ln w="12700">
            <a:solidFill>
              <a:srgbClr val="80BB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731520"/>
            <a:ext cx="164592" cy="164592"/>
          </a:xfrm>
          <a:prstGeom prst="rect">
            <a:avLst/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731520"/>
            <a:ext cx="164592" cy="164592"/>
          </a:xfrm>
          <a:prstGeom prst="rect">
            <a:avLst/>
          </a:prstGeom>
          <a:solidFill>
            <a:srgbClr val="FFB901"/>
          </a:solidFill>
          <a:ln w="12700">
            <a:solidFill>
              <a:srgbClr val="FFB90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5120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Microsoft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68712" y="6263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 / 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What is the Copilot SDK?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Editor Copilot vs the SDK — a side-by-side comparison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5362956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103120"/>
            <a:ext cx="5362956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28600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Copilot in your editor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274320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 tool for developers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337560"/>
            <a:ext cx="481431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Built into VS Code, JetBrains, etc.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Suggests code while you type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You see the results on screen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77356" y="2103120"/>
            <a:ext cx="5362956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77356" y="2103120"/>
            <a:ext cx="5362956" cy="54864"/>
          </a:xfrm>
          <a:prstGeom prst="rect">
            <a:avLst/>
          </a:prstGeom>
          <a:solidFill>
            <a:srgbClr val="702573"/>
          </a:solidFill>
          <a:ln w="12700">
            <a:solidFill>
              <a:srgbClr val="7025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51676" y="228600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The Copilot SDK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51676" y="274320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0257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 building block for applications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97396" y="3337560"/>
            <a:ext cx="481431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 Python / JS / C# library you install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Your app calls it like any other library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Your code receives results and decides next steps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Three parts: Client → Session → Tools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64592" cy="164592"/>
          </a:xfrm>
          <a:prstGeom prst="rect">
            <a:avLst/>
          </a:prstGeom>
          <a:solidFill>
            <a:srgbClr val="FA8E3F"/>
          </a:solidFill>
          <a:ln w="12700">
            <a:solidFill>
              <a:srgbClr val="FA8E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548640"/>
            <a:ext cx="164592" cy="164592"/>
          </a:xfrm>
          <a:prstGeom prst="rect">
            <a:avLst/>
          </a:prstGeom>
          <a:solidFill>
            <a:srgbClr val="80BB03"/>
          </a:solidFill>
          <a:ln w="12700">
            <a:solidFill>
              <a:srgbClr val="80BB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731520"/>
            <a:ext cx="164592" cy="164592"/>
          </a:xfrm>
          <a:prstGeom prst="rect">
            <a:avLst/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731520"/>
            <a:ext cx="164592" cy="164592"/>
          </a:xfrm>
          <a:prstGeom prst="rect">
            <a:avLst/>
          </a:prstGeom>
          <a:solidFill>
            <a:srgbClr val="FFB901"/>
          </a:solidFill>
          <a:ln w="12700">
            <a:solidFill>
              <a:srgbClr val="FFB90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5120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Microsoft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68712" y="6263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 / 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The Agentic Loop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Prompt → tool call → result → model re-evaluates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472946" y="3456432"/>
            <a:ext cx="9243060" cy="36576"/>
          </a:xfrm>
          <a:prstGeom prst="rect">
            <a:avLst/>
          </a:prstGeom>
          <a:solidFill>
            <a:srgbClr val="E0DDD6"/>
          </a:solidFill>
          <a:ln w="12700">
            <a:solidFill>
              <a:srgbClr val="E0DD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90066" y="3291840"/>
            <a:ext cx="365760" cy="365760"/>
          </a:xfrm>
          <a:prstGeom prst="ellipse">
            <a:avLst/>
          </a:prstGeom>
          <a:solidFill>
            <a:srgbClr val="737373"/>
          </a:solidFill>
          <a:ln w="12700">
            <a:solidFill>
              <a:srgbClr val="73737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90066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0080" y="2377440"/>
            <a:ext cx="1665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73737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2743200"/>
            <a:ext cx="1665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Prompt sent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931920"/>
            <a:ext cx="15742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"Analyse this issue"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138678" y="3291840"/>
            <a:ext cx="365760" cy="365760"/>
          </a:xfrm>
          <a:prstGeom prst="ellipse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38678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2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488692" y="2377440"/>
            <a:ext cx="1665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0078D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488692" y="2743200"/>
            <a:ext cx="1665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Tool requested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534412" y="3931920"/>
            <a:ext cx="15742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e.g. get_github_issue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987290" y="3291840"/>
            <a:ext cx="365760" cy="365760"/>
          </a:xfrm>
          <a:prstGeom prst="ellipse">
            <a:avLst/>
          </a:prstGeom>
          <a:solidFill>
            <a:srgbClr val="702573"/>
          </a:solidFill>
          <a:ln w="12700">
            <a:solidFill>
              <a:srgbClr val="70257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8729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337304" y="2377440"/>
            <a:ext cx="1665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70257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337304" y="2743200"/>
            <a:ext cx="1665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Tool executes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383024" y="3931920"/>
            <a:ext cx="15742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Your code returns data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835902" y="3291840"/>
            <a:ext cx="365760" cy="365760"/>
          </a:xfrm>
          <a:prstGeom prst="ellipse">
            <a:avLst/>
          </a:prstGeom>
          <a:solidFill>
            <a:srgbClr val="FE5B38"/>
          </a:solidFill>
          <a:ln w="12700">
            <a:solidFill>
              <a:srgbClr val="FE5B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35902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185916" y="2377440"/>
            <a:ext cx="1665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FE5B3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185916" y="2743200"/>
            <a:ext cx="1665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Result fed back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231636" y="3931920"/>
            <a:ext cx="15742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Model reads and decides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8684514" y="3291840"/>
            <a:ext cx="365760" cy="365760"/>
          </a:xfrm>
          <a:prstGeom prst="ellipse">
            <a:avLst/>
          </a:prstGeom>
          <a:solidFill>
            <a:srgbClr val="BF3AC4"/>
          </a:solidFill>
          <a:ln w="12700">
            <a:solidFill>
              <a:srgbClr val="BF3AC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684514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034528" y="2377440"/>
            <a:ext cx="1665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BF3A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5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034528" y="2743200"/>
            <a:ext cx="1665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Loop or finish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080248" y="3931920"/>
            <a:ext cx="15742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More tools if needed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10533126" y="3291840"/>
            <a:ext cx="365760" cy="365760"/>
          </a:xfrm>
          <a:prstGeom prst="ellipse">
            <a:avLst/>
          </a:prstGeom>
          <a:solidFill>
            <a:srgbClr val="BF3AC4"/>
          </a:solidFill>
          <a:ln w="12700">
            <a:solidFill>
              <a:srgbClr val="BF3AC4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0533126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6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883140" y="2377440"/>
            <a:ext cx="16657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BF3A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STEP 6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883140" y="2743200"/>
            <a:ext cx="16657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Final response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928860" y="3931920"/>
            <a:ext cx="1574292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Structured assessment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48640" y="6263640"/>
            <a:ext cx="9720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We don't script the sequence — the model picks tools based on what it needs.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64592" cy="164592"/>
          </a:xfrm>
          <a:prstGeom prst="rect">
            <a:avLst/>
          </a:prstGeom>
          <a:solidFill>
            <a:srgbClr val="FA8E3F"/>
          </a:solidFill>
          <a:ln w="12700">
            <a:solidFill>
              <a:srgbClr val="FA8E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548640"/>
            <a:ext cx="164592" cy="164592"/>
          </a:xfrm>
          <a:prstGeom prst="rect">
            <a:avLst/>
          </a:prstGeom>
          <a:solidFill>
            <a:srgbClr val="80BB03"/>
          </a:solidFill>
          <a:ln w="12700">
            <a:solidFill>
              <a:srgbClr val="80BB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731520"/>
            <a:ext cx="164592" cy="164592"/>
          </a:xfrm>
          <a:prstGeom prst="rect">
            <a:avLst/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731520"/>
            <a:ext cx="164592" cy="164592"/>
          </a:xfrm>
          <a:prstGeom prst="rect">
            <a:avLst/>
          </a:prstGeom>
          <a:solidFill>
            <a:srgbClr val="FFB901"/>
          </a:solidFill>
          <a:ln w="12700">
            <a:solidFill>
              <a:srgbClr val="FFB90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5120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Microsoft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68712" y="6263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3 / 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What we built (Architecture)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One file, four layers, SDK in the middle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103120"/>
            <a:ext cx="536295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103120"/>
            <a:ext cx="5362956" cy="54864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28600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① Browser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22960" y="274320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78D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Pre-built frontend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333756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EventSource receives SSE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Renders chat bubbles in real-time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Lives in src/static/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77356" y="2103120"/>
            <a:ext cx="536295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77356" y="2103120"/>
            <a:ext cx="5362956" cy="54864"/>
          </a:xfrm>
          <a:prstGeom prst="rect">
            <a:avLst/>
          </a:prstGeom>
          <a:solidFill>
            <a:srgbClr val="702573"/>
          </a:solidFill>
          <a:ln w="12700">
            <a:solidFill>
              <a:srgbClr val="7025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51676" y="228600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② FastAPI Server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51676" y="274320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70257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app.py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97396" y="333756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/api/analyse + /api/post-analysis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Async queue bridges SDK → SSE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LANG=ja switches to Japanese mode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536295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206240"/>
            <a:ext cx="5362956" cy="54864"/>
          </a:xfrm>
          <a:prstGeom prst="rect">
            <a:avLst/>
          </a:prstGeom>
          <a:solidFill>
            <a:srgbClr val="BF3AC4"/>
          </a:solidFill>
          <a:ln w="12700">
            <a:solidFill>
              <a:srgbClr val="BF3AC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38912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③ Copilot SDK + Model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484632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BF3AC4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gpt-4.1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544068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Client / Session / Tools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Generates responses + tool calls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Streams events back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77356" y="4206240"/>
            <a:ext cx="5362956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77356" y="4206240"/>
            <a:ext cx="5362956" cy="54864"/>
          </a:xfrm>
          <a:prstGeom prst="rect">
            <a:avLst/>
          </a:prstGeom>
          <a:solidFill>
            <a:srgbClr val="FE5B38"/>
          </a:solidFill>
          <a:ln w="12700">
            <a:solidFill>
              <a:srgbClr val="FE5B3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51676" y="438912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④ GitHub REST API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551676" y="4846320"/>
            <a:ext cx="48143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E5B38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Data layer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97396" y="5440680"/>
            <a:ext cx="48143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Issues / Contents / Code Search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Auth via GITHUB_TOKEN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1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Writes back PostComment / AddLabels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164592" cy="164592"/>
          </a:xfrm>
          <a:prstGeom prst="rect">
            <a:avLst/>
          </a:prstGeom>
          <a:solidFill>
            <a:srgbClr val="FA8E3F"/>
          </a:solidFill>
          <a:ln w="12700">
            <a:solidFill>
              <a:srgbClr val="FA8E3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548640"/>
            <a:ext cx="164592" cy="164592"/>
          </a:xfrm>
          <a:prstGeom prst="rect">
            <a:avLst/>
          </a:prstGeom>
          <a:solidFill>
            <a:srgbClr val="80BB03"/>
          </a:solidFill>
          <a:ln w="12700">
            <a:solidFill>
              <a:srgbClr val="80BB0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731520"/>
            <a:ext cx="164592" cy="164592"/>
          </a:xfrm>
          <a:prstGeom prst="rect">
            <a:avLst/>
          </a:prstGeom>
          <a:solidFill>
            <a:srgbClr val="00ADEF"/>
          </a:solidFill>
          <a:ln w="12700">
            <a:solidFill>
              <a:srgbClr val="00AD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731520"/>
            <a:ext cx="164592" cy="164592"/>
          </a:xfrm>
          <a:prstGeom prst="rect">
            <a:avLst/>
          </a:prstGeom>
          <a:solidFill>
            <a:srgbClr val="FFB901"/>
          </a:solidFill>
          <a:ln w="12700">
            <a:solidFill>
              <a:srgbClr val="FFB90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51206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Microsoft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268712" y="626364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3737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4 / 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91440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Next Actions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48640" y="1417320"/>
            <a:ext cx="11091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3737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Clone the repo and try it on your own issues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011680"/>
            <a:ext cx="536295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011680"/>
            <a:ext cx="54864" cy="7772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121408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Workshop course (original)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423160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github.com/reneenoble/github-copilot-sdk-for-beginners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77356" y="2011680"/>
            <a:ext cx="536295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77356" y="2011680"/>
            <a:ext cx="54864" cy="7772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05956" y="2121408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Today's repo (JA branch)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05956" y="2423160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github.com/ChibaYuki347/copilot-sdk-github-issue-analyser/tree/ja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48640" y="3154680"/>
            <a:ext cx="536295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48640" y="3154680"/>
            <a:ext cx="54864" cy="7772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3264408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Copilot SDK docs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77240" y="3566160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github.com/github/copilot-sdk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6277356" y="3154680"/>
            <a:ext cx="5362956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77800" dist="38100" dir="54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77356" y="3154680"/>
            <a:ext cx="54864" cy="777240"/>
          </a:xfrm>
          <a:prstGeom prst="rect">
            <a:avLst/>
          </a:prstGeom>
          <a:solidFill>
            <a:srgbClr val="0078D4"/>
          </a:solidFill>
          <a:ln w="12700">
            <a:solidFill>
              <a:srgbClr val="0078D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05956" y="3264408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Run command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05956" y="3566160"/>
            <a:ext cx="499719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app.py serve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548640" y="6263640"/>
            <a:ext cx="9720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91F2E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Star the repo to help others find it ⭐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Building an AI Issue Triage Tool with the GitHub Copilot SDK</dc:title>
  <dc:subject>PptxGenJS Presentation</dc:subject>
  <dc:creator>Renee Noble — Original workshop</dc:creator>
  <cp:lastModifiedBy>Renee Noble — Original workshop</cp:lastModifiedBy>
  <cp:revision>1</cp:revision>
  <dcterms:created xsi:type="dcterms:W3CDTF">2026-05-19T13:42:19Z</dcterms:created>
  <dcterms:modified xsi:type="dcterms:W3CDTF">2026-05-19T13:42:19Z</dcterms:modified>
</cp:coreProperties>
</file>